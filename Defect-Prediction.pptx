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Unbounded"/>
      <p:regular r:id="rId14"/>
    </p:embeddedFont>
    <p:embeddedFont>
      <p:font typeface="Unbounded"/>
      <p:regular r:id="rId15"/>
    </p:embeddedFont>
    <p:embeddedFont>
      <p:font typeface="Open Sans"/>
      <p:regular r:id="rId16"/>
    </p:embeddedFont>
    <p:embeddedFont>
      <p:font typeface="Open Sans"/>
      <p:regular r:id="rId17"/>
    </p:embeddedFont>
    <p:embeddedFont>
      <p:font typeface="Open Sans"/>
      <p:regular r:id="rId18"/>
    </p:embeddedFont>
    <p:embeddedFont>
      <p:font typeface="Open Sans"/>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00288"/>
            <a:ext cx="7556421" cy="2835354"/>
          </a:xfrm>
          <a:prstGeom prst="rect">
            <a:avLst/>
          </a:prstGeom>
          <a:noFill/>
          <a:ln/>
        </p:spPr>
        <p:txBody>
          <a:bodyPr wrap="square" lIns="0" tIns="0" rIns="0" bIns="0" rtlCol="0" anchor="t"/>
          <a:lstStyle/>
          <a:p>
            <a:pPr algn="l" indent="0" marL="0">
              <a:lnSpc>
                <a:spcPts val="11150"/>
              </a:lnSpc>
              <a:buNone/>
            </a:pPr>
            <a:r>
              <a:rPr lang="en-US" sz="8900" b="1" dirty="0">
                <a:solidFill>
                  <a:srgbClr val="333F70"/>
                </a:solidFill>
                <a:latin typeface="Unbounded Bold" pitchFamily="34" charset="0"/>
                <a:ea typeface="Unbounded Bold" pitchFamily="34" charset="-122"/>
                <a:cs typeface="Unbounded Bold" pitchFamily="34" charset="-120"/>
              </a:rPr>
              <a:t>Defect Prediction</a:t>
            </a:r>
            <a:endParaRPr lang="en-US" sz="8900" dirty="0"/>
          </a:p>
        </p:txBody>
      </p:sp>
      <p:sp>
        <p:nvSpPr>
          <p:cNvPr id="4" name="Text 1"/>
          <p:cNvSpPr/>
          <p:nvPr/>
        </p:nvSpPr>
        <p:spPr>
          <a:xfrm>
            <a:off x="6280190" y="5475803"/>
            <a:ext cx="7556421" cy="453509"/>
          </a:xfrm>
          <a:prstGeom prst="rect">
            <a:avLst/>
          </a:prstGeom>
          <a:noFill/>
          <a:ln/>
        </p:spPr>
        <p:txBody>
          <a:bodyPr wrap="none" lIns="0" tIns="0" rIns="0" bIns="0" rtlCol="0" anchor="t"/>
          <a:lstStyle/>
          <a:p>
            <a:pPr algn="l" indent="0" marL="0">
              <a:lnSpc>
                <a:spcPts val="3550"/>
              </a:lnSpc>
              <a:buNone/>
            </a:pPr>
            <a:r>
              <a:rPr lang="en-US" sz="2200" dirty="0">
                <a:solidFill>
                  <a:srgbClr val="333F70"/>
                </a:solidFill>
                <a:latin typeface="Open Sans" pitchFamily="34" charset="0"/>
                <a:ea typeface="Open Sans" pitchFamily="34" charset="-122"/>
                <a:cs typeface="Open Sans" pitchFamily="34" charset="-120"/>
              </a:rPr>
              <a:t>Prepared by: Sadq Mohammadi</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626281"/>
            <a:ext cx="7001589"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Problem Statement</a:t>
            </a:r>
            <a:endParaRPr lang="en-US" sz="4450" dirty="0"/>
          </a:p>
        </p:txBody>
      </p:sp>
      <p:sp>
        <p:nvSpPr>
          <p:cNvPr id="3" name="Text 1"/>
          <p:cNvSpPr/>
          <p:nvPr/>
        </p:nvSpPr>
        <p:spPr>
          <a:xfrm>
            <a:off x="793790" y="3788688"/>
            <a:ext cx="13042821" cy="1814513"/>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In modern software development, software defects (bugs) significantly affect software quality, increase maintenance costs, and reduce user satisfaction. Detecting these defects after deployment is costly and time-consuming. Defect Prediction aims to identify software modules, classes, or files that are likely to contain defects before testing or release, using historical and metric-based data. The ultimate goal is to help developers focus testing efforts on the most defect-prone parts of the software.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32604"/>
            <a:ext cx="8927663"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General Solution Process</a:t>
            </a:r>
            <a:endParaRPr lang="en-US" sz="4450" dirty="0"/>
          </a:p>
        </p:txBody>
      </p:sp>
      <p:sp>
        <p:nvSpPr>
          <p:cNvPr id="3" name="Text 1"/>
          <p:cNvSpPr/>
          <p:nvPr/>
        </p:nvSpPr>
        <p:spPr>
          <a:xfrm>
            <a:off x="793790" y="199501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The general process of software defect prediction consists of the following main steps:</a:t>
            </a:r>
            <a:endParaRPr lang="en-US" sz="1750" dirty="0"/>
          </a:p>
        </p:txBody>
      </p:sp>
      <p:sp>
        <p:nvSpPr>
          <p:cNvPr id="4" name="Text 2"/>
          <p:cNvSpPr/>
          <p:nvPr/>
        </p:nvSpPr>
        <p:spPr>
          <a:xfrm>
            <a:off x="793790" y="261306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Unbounded Light" pitchFamily="34" charset="0"/>
                <a:ea typeface="Unbounded Light" pitchFamily="34" charset="-122"/>
                <a:cs typeface="Unbounded Light" pitchFamily="34" charset="-120"/>
              </a:rPr>
              <a:t>01</a:t>
            </a:r>
            <a:endParaRPr lang="en-US" sz="1750" dirty="0"/>
          </a:p>
        </p:txBody>
      </p:sp>
      <p:sp>
        <p:nvSpPr>
          <p:cNvPr id="5" name="Shape 3"/>
          <p:cNvSpPr/>
          <p:nvPr/>
        </p:nvSpPr>
        <p:spPr>
          <a:xfrm>
            <a:off x="793790" y="2968109"/>
            <a:ext cx="4196358" cy="30480"/>
          </a:xfrm>
          <a:prstGeom prst="rect">
            <a:avLst/>
          </a:prstGeom>
          <a:solidFill>
            <a:srgbClr val="26A688"/>
          </a:solidFill>
          <a:ln/>
        </p:spPr>
      </p:sp>
      <p:sp>
        <p:nvSpPr>
          <p:cNvPr id="6" name="Text 4"/>
          <p:cNvSpPr/>
          <p:nvPr/>
        </p:nvSpPr>
        <p:spPr>
          <a:xfrm>
            <a:off x="793790" y="314241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Data Collection</a:t>
            </a:r>
            <a:endParaRPr lang="en-US" sz="2200" dirty="0"/>
          </a:p>
        </p:txBody>
      </p:sp>
      <p:sp>
        <p:nvSpPr>
          <p:cNvPr id="7" name="Text 5"/>
          <p:cNvSpPr/>
          <p:nvPr/>
        </p:nvSpPr>
        <p:spPr>
          <a:xfrm>
            <a:off x="793790" y="3632835"/>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Gather historical project data, including version control logs, change history, and bug reports.</a:t>
            </a:r>
            <a:endParaRPr lang="en-US" sz="1750" dirty="0"/>
          </a:p>
        </p:txBody>
      </p:sp>
      <p:sp>
        <p:nvSpPr>
          <p:cNvPr id="8" name="Text 6"/>
          <p:cNvSpPr/>
          <p:nvPr/>
        </p:nvSpPr>
        <p:spPr>
          <a:xfrm>
            <a:off x="5216962" y="261306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Unbounded Light" pitchFamily="34" charset="0"/>
                <a:ea typeface="Unbounded Light" pitchFamily="34" charset="-122"/>
                <a:cs typeface="Unbounded Light" pitchFamily="34" charset="-120"/>
              </a:rPr>
              <a:t>02</a:t>
            </a:r>
            <a:endParaRPr lang="en-US" sz="1750" dirty="0"/>
          </a:p>
        </p:txBody>
      </p:sp>
      <p:sp>
        <p:nvSpPr>
          <p:cNvPr id="9" name="Shape 7"/>
          <p:cNvSpPr/>
          <p:nvPr/>
        </p:nvSpPr>
        <p:spPr>
          <a:xfrm>
            <a:off x="5216962" y="2968109"/>
            <a:ext cx="4196358" cy="30480"/>
          </a:xfrm>
          <a:prstGeom prst="rect">
            <a:avLst/>
          </a:prstGeom>
          <a:solidFill>
            <a:srgbClr val="26A688"/>
          </a:solidFill>
          <a:ln/>
        </p:spPr>
      </p:sp>
      <p:sp>
        <p:nvSpPr>
          <p:cNvPr id="10" name="Text 8"/>
          <p:cNvSpPr/>
          <p:nvPr/>
        </p:nvSpPr>
        <p:spPr>
          <a:xfrm>
            <a:off x="5216962" y="3142417"/>
            <a:ext cx="3381256"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Feature Extraction</a:t>
            </a:r>
            <a:endParaRPr lang="en-US" sz="2200" dirty="0"/>
          </a:p>
        </p:txBody>
      </p:sp>
      <p:sp>
        <p:nvSpPr>
          <p:cNvPr id="11" name="Text 9"/>
          <p:cNvSpPr/>
          <p:nvPr/>
        </p:nvSpPr>
        <p:spPr>
          <a:xfrm>
            <a:off x="5216962" y="3632835"/>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Compute software metrics such as complexity, coupling, cohesion, and code churn.</a:t>
            </a:r>
            <a:endParaRPr lang="en-US" sz="1750" dirty="0"/>
          </a:p>
        </p:txBody>
      </p:sp>
      <p:sp>
        <p:nvSpPr>
          <p:cNvPr id="12" name="Text 10"/>
          <p:cNvSpPr/>
          <p:nvPr/>
        </p:nvSpPr>
        <p:spPr>
          <a:xfrm>
            <a:off x="9640133" y="261306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Unbounded Light" pitchFamily="34" charset="0"/>
                <a:ea typeface="Unbounded Light" pitchFamily="34" charset="-122"/>
                <a:cs typeface="Unbounded Light" pitchFamily="34" charset="-120"/>
              </a:rPr>
              <a:t>03</a:t>
            </a:r>
            <a:endParaRPr lang="en-US" sz="1750" dirty="0"/>
          </a:p>
        </p:txBody>
      </p:sp>
      <p:sp>
        <p:nvSpPr>
          <p:cNvPr id="13" name="Shape 11"/>
          <p:cNvSpPr/>
          <p:nvPr/>
        </p:nvSpPr>
        <p:spPr>
          <a:xfrm>
            <a:off x="9640133" y="2968109"/>
            <a:ext cx="4196358" cy="30480"/>
          </a:xfrm>
          <a:prstGeom prst="rect">
            <a:avLst/>
          </a:prstGeom>
          <a:solidFill>
            <a:srgbClr val="26A688"/>
          </a:solidFill>
          <a:ln/>
        </p:spPr>
      </p:sp>
      <p:sp>
        <p:nvSpPr>
          <p:cNvPr id="14" name="Text 12"/>
          <p:cNvSpPr/>
          <p:nvPr/>
        </p:nvSpPr>
        <p:spPr>
          <a:xfrm>
            <a:off x="9640133" y="3142417"/>
            <a:ext cx="3556397"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Data Preprocessing</a:t>
            </a:r>
            <a:endParaRPr lang="en-US" sz="2200" dirty="0"/>
          </a:p>
        </p:txBody>
      </p:sp>
      <p:sp>
        <p:nvSpPr>
          <p:cNvPr id="15" name="Text 13"/>
          <p:cNvSpPr/>
          <p:nvPr/>
        </p:nvSpPr>
        <p:spPr>
          <a:xfrm>
            <a:off x="9640133" y="3632835"/>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Clean and normalize the data, handle missing values, and balance the dataset using techniques like SMOTE.</a:t>
            </a:r>
            <a:endParaRPr lang="en-US" sz="1750" dirty="0"/>
          </a:p>
        </p:txBody>
      </p:sp>
      <p:sp>
        <p:nvSpPr>
          <p:cNvPr id="16" name="Text 14"/>
          <p:cNvSpPr/>
          <p:nvPr/>
        </p:nvSpPr>
        <p:spPr>
          <a:xfrm>
            <a:off x="793790" y="511837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Unbounded Light" pitchFamily="34" charset="0"/>
                <a:ea typeface="Unbounded Light" pitchFamily="34" charset="-122"/>
                <a:cs typeface="Unbounded Light" pitchFamily="34" charset="-120"/>
              </a:rPr>
              <a:t>04</a:t>
            </a:r>
            <a:endParaRPr lang="en-US" sz="1750" dirty="0"/>
          </a:p>
        </p:txBody>
      </p:sp>
      <p:sp>
        <p:nvSpPr>
          <p:cNvPr id="17" name="Shape 15"/>
          <p:cNvSpPr/>
          <p:nvPr/>
        </p:nvSpPr>
        <p:spPr>
          <a:xfrm>
            <a:off x="793790" y="5473422"/>
            <a:ext cx="6407944" cy="30480"/>
          </a:xfrm>
          <a:prstGeom prst="rect">
            <a:avLst/>
          </a:prstGeom>
          <a:solidFill>
            <a:srgbClr val="26A688"/>
          </a:solidFill>
          <a:ln/>
        </p:spPr>
      </p:sp>
      <p:sp>
        <p:nvSpPr>
          <p:cNvPr id="18" name="Text 16"/>
          <p:cNvSpPr/>
          <p:nvPr/>
        </p:nvSpPr>
        <p:spPr>
          <a:xfrm>
            <a:off x="793790" y="564773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Model Building</a:t>
            </a:r>
            <a:endParaRPr lang="en-US" sz="2200" dirty="0"/>
          </a:p>
        </p:txBody>
      </p:sp>
      <p:sp>
        <p:nvSpPr>
          <p:cNvPr id="19" name="Text 17"/>
          <p:cNvSpPr/>
          <p:nvPr/>
        </p:nvSpPr>
        <p:spPr>
          <a:xfrm>
            <a:off x="793790" y="6138148"/>
            <a:ext cx="6407944"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Train classification models using machine learning or deep learning algorithms to predict whether a module is defective or not.</a:t>
            </a:r>
            <a:endParaRPr lang="en-US" sz="1750" dirty="0"/>
          </a:p>
        </p:txBody>
      </p:sp>
      <p:sp>
        <p:nvSpPr>
          <p:cNvPr id="20" name="Text 18"/>
          <p:cNvSpPr/>
          <p:nvPr/>
        </p:nvSpPr>
        <p:spPr>
          <a:xfrm>
            <a:off x="7428548" y="511837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Unbounded Light" pitchFamily="34" charset="0"/>
                <a:ea typeface="Unbounded Light" pitchFamily="34" charset="-122"/>
                <a:cs typeface="Unbounded Light" pitchFamily="34" charset="-120"/>
              </a:rPr>
              <a:t>05</a:t>
            </a:r>
            <a:endParaRPr lang="en-US" sz="1750" dirty="0"/>
          </a:p>
        </p:txBody>
      </p:sp>
      <p:sp>
        <p:nvSpPr>
          <p:cNvPr id="21" name="Shape 19"/>
          <p:cNvSpPr/>
          <p:nvPr/>
        </p:nvSpPr>
        <p:spPr>
          <a:xfrm>
            <a:off x="7428548" y="5473422"/>
            <a:ext cx="6407944" cy="30480"/>
          </a:xfrm>
          <a:prstGeom prst="rect">
            <a:avLst/>
          </a:prstGeom>
          <a:solidFill>
            <a:srgbClr val="26A688"/>
          </a:solidFill>
          <a:ln/>
        </p:spPr>
      </p:sp>
      <p:sp>
        <p:nvSpPr>
          <p:cNvPr id="22" name="Text 20"/>
          <p:cNvSpPr/>
          <p:nvPr/>
        </p:nvSpPr>
        <p:spPr>
          <a:xfrm>
            <a:off x="7428548" y="564773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Evaluation</a:t>
            </a:r>
            <a:endParaRPr lang="en-US" sz="2200" dirty="0"/>
          </a:p>
        </p:txBody>
      </p:sp>
      <p:sp>
        <p:nvSpPr>
          <p:cNvPr id="23" name="Text 21"/>
          <p:cNvSpPr/>
          <p:nvPr/>
        </p:nvSpPr>
        <p:spPr>
          <a:xfrm>
            <a:off x="7428548" y="6138148"/>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Assess model performance using standard evaluation metrics.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08779"/>
            <a:ext cx="10736342"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Categories of the Approaches</a:t>
            </a:r>
            <a:endParaRPr lang="en-US" sz="4450" dirty="0"/>
          </a:p>
        </p:txBody>
      </p:sp>
      <p:sp>
        <p:nvSpPr>
          <p:cNvPr id="3" name="Text 1"/>
          <p:cNvSpPr/>
          <p:nvPr/>
        </p:nvSpPr>
        <p:spPr>
          <a:xfrm>
            <a:off x="793790" y="187118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The main categories of defect prediction approaches include:</a:t>
            </a:r>
            <a:endParaRPr lang="en-US" sz="1750" dirty="0"/>
          </a:p>
        </p:txBody>
      </p:sp>
      <p:sp>
        <p:nvSpPr>
          <p:cNvPr id="4" name="Shape 2"/>
          <p:cNvSpPr/>
          <p:nvPr/>
        </p:nvSpPr>
        <p:spPr>
          <a:xfrm>
            <a:off x="793790" y="2489240"/>
            <a:ext cx="6407944" cy="2402324"/>
          </a:xfrm>
          <a:prstGeom prst="roundRect">
            <a:avLst>
              <a:gd name="adj" fmla="val 3966"/>
            </a:avLst>
          </a:prstGeom>
          <a:solidFill>
            <a:srgbClr val="D6F5EE"/>
          </a:solidFill>
          <a:ln w="7620">
            <a:solidFill>
              <a:srgbClr val="BCDBD4"/>
            </a:solidFill>
            <a:prstDash val="solid"/>
          </a:ln>
        </p:spPr>
      </p:sp>
      <p:sp>
        <p:nvSpPr>
          <p:cNvPr id="5" name="Text 3"/>
          <p:cNvSpPr/>
          <p:nvPr/>
        </p:nvSpPr>
        <p:spPr>
          <a:xfrm>
            <a:off x="1028224" y="2723674"/>
            <a:ext cx="5939076" cy="70866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Machine Learning-based Approaches</a:t>
            </a:r>
            <a:endParaRPr lang="en-US" sz="2200" dirty="0"/>
          </a:p>
        </p:txBody>
      </p:sp>
      <p:sp>
        <p:nvSpPr>
          <p:cNvPr id="6" name="Text 4"/>
          <p:cNvSpPr/>
          <p:nvPr/>
        </p:nvSpPr>
        <p:spPr>
          <a:xfrm>
            <a:off x="1028224" y="3568422"/>
            <a:ext cx="5939076"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Utilize traditional models such as Logistic Regression, Random Forest, Decision Tree, and Support Vector Machine (SVM).</a:t>
            </a:r>
            <a:endParaRPr lang="en-US" sz="1750" dirty="0"/>
          </a:p>
        </p:txBody>
      </p:sp>
      <p:sp>
        <p:nvSpPr>
          <p:cNvPr id="7" name="Shape 5"/>
          <p:cNvSpPr/>
          <p:nvPr/>
        </p:nvSpPr>
        <p:spPr>
          <a:xfrm>
            <a:off x="7428548" y="2489240"/>
            <a:ext cx="6408063" cy="2402324"/>
          </a:xfrm>
          <a:prstGeom prst="roundRect">
            <a:avLst>
              <a:gd name="adj" fmla="val 3966"/>
            </a:avLst>
          </a:prstGeom>
          <a:solidFill>
            <a:srgbClr val="D6F5EE"/>
          </a:solidFill>
          <a:ln w="7620">
            <a:solidFill>
              <a:srgbClr val="BCDBD4"/>
            </a:solidFill>
            <a:prstDash val="solid"/>
          </a:ln>
        </p:spPr>
      </p:sp>
      <p:sp>
        <p:nvSpPr>
          <p:cNvPr id="8" name="Text 6"/>
          <p:cNvSpPr/>
          <p:nvPr/>
        </p:nvSpPr>
        <p:spPr>
          <a:xfrm>
            <a:off x="7662982" y="2723674"/>
            <a:ext cx="5939195" cy="70866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Deep Learning-based Approaches</a:t>
            </a:r>
            <a:endParaRPr lang="en-US" sz="2200" dirty="0"/>
          </a:p>
        </p:txBody>
      </p:sp>
      <p:sp>
        <p:nvSpPr>
          <p:cNvPr id="9" name="Text 7"/>
          <p:cNvSpPr/>
          <p:nvPr/>
        </p:nvSpPr>
        <p:spPr>
          <a:xfrm>
            <a:off x="7662982" y="3568422"/>
            <a:ext cx="5939195"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Apply neural networks (e.g., CNN, LSTM, or DNN) to automatically learn feature representations from code metrics or text.</a:t>
            </a:r>
            <a:endParaRPr lang="en-US" sz="1750" dirty="0"/>
          </a:p>
        </p:txBody>
      </p:sp>
      <p:sp>
        <p:nvSpPr>
          <p:cNvPr id="10" name="Shape 8"/>
          <p:cNvSpPr/>
          <p:nvPr/>
        </p:nvSpPr>
        <p:spPr>
          <a:xfrm>
            <a:off x="793790" y="5118378"/>
            <a:ext cx="6407944" cy="2402324"/>
          </a:xfrm>
          <a:prstGeom prst="roundRect">
            <a:avLst>
              <a:gd name="adj" fmla="val 3966"/>
            </a:avLst>
          </a:prstGeom>
          <a:solidFill>
            <a:srgbClr val="D6F5EE"/>
          </a:solidFill>
          <a:ln w="7620">
            <a:solidFill>
              <a:srgbClr val="BCDBD4"/>
            </a:solidFill>
            <a:prstDash val="solid"/>
          </a:ln>
        </p:spPr>
      </p:sp>
      <p:sp>
        <p:nvSpPr>
          <p:cNvPr id="11" name="Text 9"/>
          <p:cNvSpPr/>
          <p:nvPr/>
        </p:nvSpPr>
        <p:spPr>
          <a:xfrm>
            <a:off x="1028224" y="5352812"/>
            <a:ext cx="5939076" cy="70866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Cross-Project Defect Prediction (CPDP)</a:t>
            </a:r>
            <a:endParaRPr lang="en-US" sz="2200" dirty="0"/>
          </a:p>
        </p:txBody>
      </p:sp>
      <p:sp>
        <p:nvSpPr>
          <p:cNvPr id="12" name="Text 10"/>
          <p:cNvSpPr/>
          <p:nvPr/>
        </p:nvSpPr>
        <p:spPr>
          <a:xfrm>
            <a:off x="1028224" y="6197560"/>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Train models on one project and apply them to another when labeled data is unavailable for the target project.</a:t>
            </a:r>
            <a:endParaRPr lang="en-US" sz="1750" dirty="0"/>
          </a:p>
        </p:txBody>
      </p:sp>
      <p:sp>
        <p:nvSpPr>
          <p:cNvPr id="13" name="Shape 11"/>
          <p:cNvSpPr/>
          <p:nvPr/>
        </p:nvSpPr>
        <p:spPr>
          <a:xfrm>
            <a:off x="7428548" y="5118378"/>
            <a:ext cx="6408063" cy="2402324"/>
          </a:xfrm>
          <a:prstGeom prst="roundRect">
            <a:avLst>
              <a:gd name="adj" fmla="val 3966"/>
            </a:avLst>
          </a:prstGeom>
          <a:solidFill>
            <a:srgbClr val="D6F5EE"/>
          </a:solidFill>
          <a:ln w="7620">
            <a:solidFill>
              <a:srgbClr val="BCDBD4"/>
            </a:solidFill>
            <a:prstDash val="solid"/>
          </a:ln>
        </p:spPr>
      </p:sp>
      <p:sp>
        <p:nvSpPr>
          <p:cNvPr id="14" name="Text 12"/>
          <p:cNvSpPr/>
          <p:nvPr/>
        </p:nvSpPr>
        <p:spPr>
          <a:xfrm>
            <a:off x="7662982" y="5352812"/>
            <a:ext cx="5939195" cy="70866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Transfer Learning / Domain Adaptation</a:t>
            </a:r>
            <a:endParaRPr lang="en-US" sz="2200" dirty="0"/>
          </a:p>
        </p:txBody>
      </p:sp>
      <p:sp>
        <p:nvSpPr>
          <p:cNvPr id="15" name="Text 13"/>
          <p:cNvSpPr/>
          <p:nvPr/>
        </p:nvSpPr>
        <p:spPr>
          <a:xfrm>
            <a:off x="7662982" y="6197560"/>
            <a:ext cx="5939195"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Enhance model generalization across different projects or programming languages using knowledge transfer techniques.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198370"/>
            <a:ext cx="10748248"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Possible or Probable Datasets</a:t>
            </a:r>
            <a:endParaRPr lang="en-US" sz="4450" dirty="0"/>
          </a:p>
        </p:txBody>
      </p:sp>
      <p:sp>
        <p:nvSpPr>
          <p:cNvPr id="3" name="Text 1"/>
          <p:cNvSpPr/>
          <p:nvPr/>
        </p:nvSpPr>
        <p:spPr>
          <a:xfrm>
            <a:off x="793790" y="3360777"/>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Common publicly available datasets for defect prediction research include:</a:t>
            </a:r>
            <a:endParaRPr lang="en-US" sz="1750" dirty="0"/>
          </a:p>
        </p:txBody>
      </p:sp>
      <p:sp>
        <p:nvSpPr>
          <p:cNvPr id="4" name="Text 2"/>
          <p:cNvSpPr/>
          <p:nvPr/>
        </p:nvSpPr>
        <p:spPr>
          <a:xfrm>
            <a:off x="793790" y="3978831"/>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NASA MDP (Metrics Data Program):</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Contains software metrics and defect labels for several NASA projects.</a:t>
            </a:r>
            <a:endParaRPr lang="en-US" sz="1750" dirty="0"/>
          </a:p>
        </p:txBody>
      </p:sp>
      <p:sp>
        <p:nvSpPr>
          <p:cNvPr id="5" name="Text 3"/>
          <p:cNvSpPr/>
          <p:nvPr/>
        </p:nvSpPr>
        <p:spPr>
          <a:xfrm>
            <a:off x="793790" y="4421029"/>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PROMISE Repository:</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One of the most widely used repositories for defect prediction datasets.</a:t>
            </a:r>
            <a:endParaRPr lang="en-US" sz="1750" dirty="0"/>
          </a:p>
        </p:txBody>
      </p:sp>
      <p:sp>
        <p:nvSpPr>
          <p:cNvPr id="6" name="Text 4"/>
          <p:cNvSpPr/>
          <p:nvPr/>
        </p:nvSpPr>
        <p:spPr>
          <a:xfrm>
            <a:off x="793790" y="4863227"/>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Jureczko Dataset:</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Includes object-oriented metrics and defect labels for multiple open-source Java projects.</a:t>
            </a:r>
            <a:endParaRPr lang="en-US" sz="1750" dirty="0"/>
          </a:p>
        </p:txBody>
      </p:sp>
      <p:sp>
        <p:nvSpPr>
          <p:cNvPr id="7" name="Text 5"/>
          <p:cNvSpPr/>
          <p:nvPr/>
        </p:nvSpPr>
        <p:spPr>
          <a:xfrm>
            <a:off x="793790" y="5305425"/>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GitHub and Apache Repositories:</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Real-world datasets extracted from open-source software for practical defect prediction.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183" y="705207"/>
            <a:ext cx="10255925" cy="623411"/>
          </a:xfrm>
          <a:prstGeom prst="rect">
            <a:avLst/>
          </a:prstGeom>
          <a:noFill/>
          <a:ln/>
        </p:spPr>
        <p:txBody>
          <a:bodyPr wrap="none" lIns="0" tIns="0" rIns="0" bIns="0" rtlCol="0" anchor="t"/>
          <a:lstStyle/>
          <a:p>
            <a:pPr algn="l" indent="0" marL="0">
              <a:lnSpc>
                <a:spcPts val="4900"/>
              </a:lnSpc>
              <a:buNone/>
            </a:pPr>
            <a:r>
              <a:rPr lang="en-US" sz="3900" b="1" dirty="0">
                <a:solidFill>
                  <a:srgbClr val="333F70"/>
                </a:solidFill>
                <a:latin typeface="Unbounded Bold" pitchFamily="34" charset="0"/>
                <a:ea typeface="Unbounded Bold" pitchFamily="34" charset="-122"/>
                <a:cs typeface="Unbounded Bold" pitchFamily="34" charset="-120"/>
              </a:rPr>
              <a:t>Evaluation Methods and Metrics</a:t>
            </a:r>
            <a:endParaRPr lang="en-US" sz="3900" dirty="0"/>
          </a:p>
        </p:txBody>
      </p:sp>
      <p:sp>
        <p:nvSpPr>
          <p:cNvPr id="3" name="Text 1"/>
          <p:cNvSpPr/>
          <p:nvPr/>
        </p:nvSpPr>
        <p:spPr>
          <a:xfrm>
            <a:off x="698183" y="1727597"/>
            <a:ext cx="13234035" cy="319207"/>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Defect prediction models are evaluated using standard classification metrics, such as:</a:t>
            </a:r>
            <a:endParaRPr lang="en-US" sz="1550" dirty="0"/>
          </a:p>
        </p:txBody>
      </p:sp>
      <p:sp>
        <p:nvSpPr>
          <p:cNvPr id="4" name="Shape 2"/>
          <p:cNvSpPr/>
          <p:nvPr/>
        </p:nvSpPr>
        <p:spPr>
          <a:xfrm>
            <a:off x="698183" y="2271117"/>
            <a:ext cx="4278392" cy="1514237"/>
          </a:xfrm>
          <a:prstGeom prst="roundRect">
            <a:avLst>
              <a:gd name="adj" fmla="val 5533"/>
            </a:avLst>
          </a:prstGeom>
          <a:solidFill>
            <a:srgbClr val="FFFFFF"/>
          </a:solidFill>
          <a:ln w="22860">
            <a:solidFill>
              <a:srgbClr val="BCDBD4"/>
            </a:solidFill>
            <a:prstDash val="solid"/>
          </a:ln>
        </p:spPr>
      </p:sp>
      <p:sp>
        <p:nvSpPr>
          <p:cNvPr id="5" name="Text 3"/>
          <p:cNvSpPr/>
          <p:nvPr/>
        </p:nvSpPr>
        <p:spPr>
          <a:xfrm>
            <a:off x="920472" y="2493407"/>
            <a:ext cx="2493526" cy="311587"/>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Accuracy (Acc)</a:t>
            </a:r>
            <a:endParaRPr lang="en-US" sz="1950" dirty="0"/>
          </a:p>
        </p:txBody>
      </p:sp>
      <p:sp>
        <p:nvSpPr>
          <p:cNvPr id="6" name="Text 4"/>
          <p:cNvSpPr/>
          <p:nvPr/>
        </p:nvSpPr>
        <p:spPr>
          <a:xfrm>
            <a:off x="920472" y="2924651"/>
            <a:ext cx="3833812" cy="638413"/>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Proportion of correctly classified instances.</a:t>
            </a:r>
            <a:endParaRPr lang="en-US" sz="1550" dirty="0"/>
          </a:p>
        </p:txBody>
      </p:sp>
      <p:sp>
        <p:nvSpPr>
          <p:cNvPr id="7" name="Shape 5"/>
          <p:cNvSpPr/>
          <p:nvPr/>
        </p:nvSpPr>
        <p:spPr>
          <a:xfrm>
            <a:off x="5176004" y="2271117"/>
            <a:ext cx="4278392" cy="1514237"/>
          </a:xfrm>
          <a:prstGeom prst="roundRect">
            <a:avLst>
              <a:gd name="adj" fmla="val 5533"/>
            </a:avLst>
          </a:prstGeom>
          <a:solidFill>
            <a:srgbClr val="FFFFFF"/>
          </a:solidFill>
          <a:ln w="22860">
            <a:solidFill>
              <a:srgbClr val="BCDBD4"/>
            </a:solidFill>
            <a:prstDash val="solid"/>
          </a:ln>
        </p:spPr>
      </p:sp>
      <p:sp>
        <p:nvSpPr>
          <p:cNvPr id="8" name="Text 6"/>
          <p:cNvSpPr/>
          <p:nvPr/>
        </p:nvSpPr>
        <p:spPr>
          <a:xfrm>
            <a:off x="5398294" y="2493407"/>
            <a:ext cx="2493526" cy="311587"/>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Precision (Pr)</a:t>
            </a:r>
            <a:endParaRPr lang="en-US" sz="1950" dirty="0"/>
          </a:p>
        </p:txBody>
      </p:sp>
      <p:sp>
        <p:nvSpPr>
          <p:cNvPr id="9" name="Text 7"/>
          <p:cNvSpPr/>
          <p:nvPr/>
        </p:nvSpPr>
        <p:spPr>
          <a:xfrm>
            <a:off x="5398294" y="2924651"/>
            <a:ext cx="3833812" cy="638413"/>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Ratio of correctly predicted defective modules to all predicted defective ones.</a:t>
            </a:r>
            <a:endParaRPr lang="en-US" sz="1550" dirty="0"/>
          </a:p>
        </p:txBody>
      </p:sp>
      <p:sp>
        <p:nvSpPr>
          <p:cNvPr id="10" name="Shape 8"/>
          <p:cNvSpPr/>
          <p:nvPr/>
        </p:nvSpPr>
        <p:spPr>
          <a:xfrm>
            <a:off x="9653826" y="2271117"/>
            <a:ext cx="4278392" cy="1514237"/>
          </a:xfrm>
          <a:prstGeom prst="roundRect">
            <a:avLst>
              <a:gd name="adj" fmla="val 5533"/>
            </a:avLst>
          </a:prstGeom>
          <a:solidFill>
            <a:srgbClr val="FFFFFF"/>
          </a:solidFill>
          <a:ln w="22860">
            <a:solidFill>
              <a:srgbClr val="BCDBD4"/>
            </a:solidFill>
            <a:prstDash val="solid"/>
          </a:ln>
        </p:spPr>
      </p:sp>
      <p:sp>
        <p:nvSpPr>
          <p:cNvPr id="11" name="Text 9"/>
          <p:cNvSpPr/>
          <p:nvPr/>
        </p:nvSpPr>
        <p:spPr>
          <a:xfrm>
            <a:off x="9876115" y="2493407"/>
            <a:ext cx="2493526" cy="311587"/>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Recall (Re)</a:t>
            </a:r>
            <a:endParaRPr lang="en-US" sz="1950" dirty="0"/>
          </a:p>
        </p:txBody>
      </p:sp>
      <p:sp>
        <p:nvSpPr>
          <p:cNvPr id="12" name="Text 10"/>
          <p:cNvSpPr/>
          <p:nvPr/>
        </p:nvSpPr>
        <p:spPr>
          <a:xfrm>
            <a:off x="9876115" y="2924651"/>
            <a:ext cx="3833812" cy="638413"/>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Ratio of correctly predicted defective modules to all actual defective modules.</a:t>
            </a:r>
            <a:endParaRPr lang="en-US" sz="1550" dirty="0"/>
          </a:p>
        </p:txBody>
      </p:sp>
      <p:sp>
        <p:nvSpPr>
          <p:cNvPr id="13" name="Shape 11"/>
          <p:cNvSpPr/>
          <p:nvPr/>
        </p:nvSpPr>
        <p:spPr>
          <a:xfrm>
            <a:off x="698183" y="3984784"/>
            <a:ext cx="4278392" cy="2145030"/>
          </a:xfrm>
          <a:prstGeom prst="roundRect">
            <a:avLst>
              <a:gd name="adj" fmla="val 3906"/>
            </a:avLst>
          </a:prstGeom>
          <a:solidFill>
            <a:srgbClr val="FFFFFF"/>
          </a:solidFill>
          <a:ln w="22860">
            <a:solidFill>
              <a:srgbClr val="BCDBD4"/>
            </a:solidFill>
            <a:prstDash val="solid"/>
          </a:ln>
        </p:spPr>
      </p:sp>
      <p:sp>
        <p:nvSpPr>
          <p:cNvPr id="14" name="Text 12"/>
          <p:cNvSpPr/>
          <p:nvPr/>
        </p:nvSpPr>
        <p:spPr>
          <a:xfrm>
            <a:off x="920472" y="4207073"/>
            <a:ext cx="2493526" cy="311587"/>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F1-Score</a:t>
            </a:r>
            <a:endParaRPr lang="en-US" sz="1950" dirty="0"/>
          </a:p>
        </p:txBody>
      </p:sp>
      <p:sp>
        <p:nvSpPr>
          <p:cNvPr id="15" name="Text 13"/>
          <p:cNvSpPr/>
          <p:nvPr/>
        </p:nvSpPr>
        <p:spPr>
          <a:xfrm>
            <a:off x="920472" y="4638318"/>
            <a:ext cx="3833812" cy="319207"/>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Harmonic mean of precision and recall.</a:t>
            </a:r>
            <a:endParaRPr lang="en-US" sz="1550" dirty="0"/>
          </a:p>
        </p:txBody>
      </p:sp>
      <p:sp>
        <p:nvSpPr>
          <p:cNvPr id="16" name="Shape 14"/>
          <p:cNvSpPr/>
          <p:nvPr/>
        </p:nvSpPr>
        <p:spPr>
          <a:xfrm>
            <a:off x="5176004" y="3984784"/>
            <a:ext cx="4278392" cy="2145030"/>
          </a:xfrm>
          <a:prstGeom prst="roundRect">
            <a:avLst>
              <a:gd name="adj" fmla="val 3906"/>
            </a:avLst>
          </a:prstGeom>
          <a:solidFill>
            <a:srgbClr val="FFFFFF"/>
          </a:solidFill>
          <a:ln w="22860">
            <a:solidFill>
              <a:srgbClr val="BCDBD4"/>
            </a:solidFill>
            <a:prstDash val="solid"/>
          </a:ln>
        </p:spPr>
      </p:sp>
      <p:sp>
        <p:nvSpPr>
          <p:cNvPr id="17" name="Text 15"/>
          <p:cNvSpPr/>
          <p:nvPr/>
        </p:nvSpPr>
        <p:spPr>
          <a:xfrm>
            <a:off x="5398294" y="4207073"/>
            <a:ext cx="3833812" cy="623173"/>
          </a:xfrm>
          <a:prstGeom prst="rect">
            <a:avLst/>
          </a:prstGeom>
          <a:noFill/>
          <a:ln/>
        </p:spPr>
        <p:txBody>
          <a:bodyPr wrap="squar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AUC (Area Under the ROC Curve)</a:t>
            </a:r>
            <a:endParaRPr lang="en-US" sz="1950" dirty="0"/>
          </a:p>
        </p:txBody>
      </p:sp>
      <p:sp>
        <p:nvSpPr>
          <p:cNvPr id="18" name="Text 16"/>
          <p:cNvSpPr/>
          <p:nvPr/>
        </p:nvSpPr>
        <p:spPr>
          <a:xfrm>
            <a:off x="5398294" y="4949904"/>
            <a:ext cx="3833812" cy="957620"/>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Measures the model's ability to distinguish between defective and non-defective classes.</a:t>
            </a:r>
            <a:endParaRPr lang="en-US" sz="1550" dirty="0"/>
          </a:p>
        </p:txBody>
      </p:sp>
      <p:sp>
        <p:nvSpPr>
          <p:cNvPr id="19" name="Shape 17"/>
          <p:cNvSpPr/>
          <p:nvPr/>
        </p:nvSpPr>
        <p:spPr>
          <a:xfrm>
            <a:off x="9653826" y="3984784"/>
            <a:ext cx="4278392" cy="2145030"/>
          </a:xfrm>
          <a:prstGeom prst="roundRect">
            <a:avLst>
              <a:gd name="adj" fmla="val 3906"/>
            </a:avLst>
          </a:prstGeom>
          <a:solidFill>
            <a:srgbClr val="FFFFFF"/>
          </a:solidFill>
          <a:ln w="22860">
            <a:solidFill>
              <a:srgbClr val="BCDBD4"/>
            </a:solidFill>
            <a:prstDash val="solid"/>
          </a:ln>
        </p:spPr>
      </p:sp>
      <p:sp>
        <p:nvSpPr>
          <p:cNvPr id="20" name="Text 18"/>
          <p:cNvSpPr/>
          <p:nvPr/>
        </p:nvSpPr>
        <p:spPr>
          <a:xfrm>
            <a:off x="9876115" y="4207073"/>
            <a:ext cx="3833812" cy="623173"/>
          </a:xfrm>
          <a:prstGeom prst="rect">
            <a:avLst/>
          </a:prstGeom>
          <a:noFill/>
          <a:ln/>
        </p:spPr>
        <p:txBody>
          <a:bodyPr wrap="squar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MCC (Matthews Correlation Coefficient)</a:t>
            </a:r>
            <a:endParaRPr lang="en-US" sz="1950" dirty="0"/>
          </a:p>
        </p:txBody>
      </p:sp>
      <p:sp>
        <p:nvSpPr>
          <p:cNvPr id="21" name="Text 19"/>
          <p:cNvSpPr/>
          <p:nvPr/>
        </p:nvSpPr>
        <p:spPr>
          <a:xfrm>
            <a:off x="9876115" y="4949904"/>
            <a:ext cx="3833812" cy="638413"/>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Provides a balanced measure even when data is imbalanced.</a:t>
            </a:r>
            <a:endParaRPr lang="en-US" sz="1550" dirty="0"/>
          </a:p>
        </p:txBody>
      </p:sp>
      <p:sp>
        <p:nvSpPr>
          <p:cNvPr id="22" name="Shape 20"/>
          <p:cNvSpPr/>
          <p:nvPr/>
        </p:nvSpPr>
        <p:spPr>
          <a:xfrm>
            <a:off x="698183" y="6329243"/>
            <a:ext cx="13234035" cy="1195030"/>
          </a:xfrm>
          <a:prstGeom prst="roundRect">
            <a:avLst>
              <a:gd name="adj" fmla="val 7011"/>
            </a:avLst>
          </a:prstGeom>
          <a:solidFill>
            <a:srgbClr val="FFFFFF"/>
          </a:solidFill>
          <a:ln w="22860">
            <a:solidFill>
              <a:srgbClr val="BCDBD4"/>
            </a:solidFill>
            <a:prstDash val="solid"/>
          </a:ln>
        </p:spPr>
      </p:sp>
      <p:sp>
        <p:nvSpPr>
          <p:cNvPr id="23" name="Text 21"/>
          <p:cNvSpPr/>
          <p:nvPr/>
        </p:nvSpPr>
        <p:spPr>
          <a:xfrm>
            <a:off x="920472" y="6551533"/>
            <a:ext cx="4344591" cy="311587"/>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Cost-Effectiveness Metrics</a:t>
            </a:r>
            <a:endParaRPr lang="en-US" sz="1950" dirty="0"/>
          </a:p>
        </p:txBody>
      </p:sp>
      <p:sp>
        <p:nvSpPr>
          <p:cNvPr id="24" name="Text 22"/>
          <p:cNvSpPr/>
          <p:nvPr/>
        </p:nvSpPr>
        <p:spPr>
          <a:xfrm>
            <a:off x="920472" y="6982778"/>
            <a:ext cx="12789456" cy="319207"/>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Evaluate the trade-off between inspection effort and defect detection rate.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807732"/>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Conclusion</a:t>
            </a:r>
            <a:endParaRPr lang="en-US" sz="4450" dirty="0"/>
          </a:p>
        </p:txBody>
      </p:sp>
      <p:sp>
        <p:nvSpPr>
          <p:cNvPr id="3" name="Text 1"/>
          <p:cNvSpPr/>
          <p:nvPr/>
        </p:nvSpPr>
        <p:spPr>
          <a:xfrm>
            <a:off x="793790" y="3970139"/>
            <a:ext cx="13042821" cy="1451610"/>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Defect prediction has become an essential research topic in software engineering as software systems grow in size and complexity. Although no single model can achieve perfect prediction across all projects, combining software metrics, repository mining, and advanced learning techniques—especially </a:t>
            </a:r>
            <a:pPr algn="l" indent="0" marL="0">
              <a:lnSpc>
                <a:spcPts val="2850"/>
              </a:lnSpc>
              <a:buNone/>
            </a:pPr>
            <a:r>
              <a:rPr lang="en-US" sz="1750" b="1" dirty="0">
                <a:solidFill>
                  <a:srgbClr val="000000"/>
                </a:solidFill>
                <a:latin typeface="Open Sans" pitchFamily="34" charset="0"/>
                <a:ea typeface="Open Sans" pitchFamily="34" charset="-122"/>
                <a:cs typeface="Open Sans" pitchFamily="34" charset="-120"/>
              </a:rPr>
              <a:t>deep learning and transfer learning</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—offers promising results for improving software quality and reducing development cost.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2025-11-12T13:32:47Z</dcterms:created>
  <dcterms:modified xsi:type="dcterms:W3CDTF">2025-11-12T13:32:47Z</dcterms:modified>
</cp:coreProperties>
</file>